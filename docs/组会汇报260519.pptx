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3"/>
  </p:sldMasterIdLst>
  <p:notesMasterIdLst>
    <p:notesMasterId r:id="rId11"/>
  </p:notesMasterIdLst>
  <p:sldIdLst>
    <p:sldId id="256" r:id="rId4"/>
    <p:sldId id="260" r:id="rId5"/>
    <p:sldId id="263" r:id="rId6"/>
    <p:sldId id="290" r:id="rId7"/>
    <p:sldId id="314" r:id="rId8"/>
    <p:sldId id="286" r:id="rId9"/>
    <p:sldId id="331" r:id="rId10"/>
    <p:sldId id="321" r:id="rId12"/>
    <p:sldId id="332" r:id="rId13"/>
    <p:sldId id="287" r:id="rId14"/>
    <p:sldId id="308" r:id="rId15"/>
    <p:sldId id="325" r:id="rId16"/>
    <p:sldId id="326" r:id="rId17"/>
    <p:sldId id="327" r:id="rId18"/>
    <p:sldId id="288" r:id="rId19"/>
    <p:sldId id="315" r:id="rId20"/>
    <p:sldId id="329" r:id="rId21"/>
    <p:sldId id="330" r:id="rId22"/>
    <p:sldId id="336" r:id="rId23"/>
    <p:sldId id="29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5E96"/>
    <a:srgbClr val="4CA436"/>
    <a:srgbClr val="317EC2"/>
    <a:srgbClr val="43679B"/>
    <a:srgbClr val="4BEFD4"/>
    <a:srgbClr val="6EF2DC"/>
    <a:srgbClr val="269B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59"/>
  </p:normalViewPr>
  <p:slideViewPr>
    <p:cSldViewPr snapToGrid="0" snapToObjects="1">
      <p:cViewPr varScale="1">
        <p:scale>
          <a:sx n="111" d="100"/>
          <a:sy n="111" d="100"/>
        </p:scale>
        <p:origin x="1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7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11B43-F7C8-3F49-A15B-0BF9F87FA530}" type="slidenum">
              <a:rPr lang="en-US" smtClean="0"/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6917A-3327-B942-BA3D-398E90B5835F}" type="datetimeFigureOut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44EC55-A5CE-3B42-93D4-76B995307480}" type="datetime1">
              <a:rPr lang="en-US" smtClean="0"/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idx="1"/>
          </p:nvPr>
        </p:nvSpPr>
        <p:spPr>
          <a:xfrm>
            <a:off x="838200" y="3659218"/>
            <a:ext cx="10515600" cy="1467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9969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610600" y="6549990"/>
            <a:ext cx="2743200" cy="365125"/>
          </a:xfrm>
        </p:spPr>
        <p:txBody>
          <a:bodyPr/>
          <a:lstStyle/>
          <a:p>
            <a:fld id="{0A50CF25-F9B6-EA4B-991F-E50888CA6F87}" type="slidenum">
              <a:rPr lang="en-US" smtClean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838200" y="6551447"/>
            <a:ext cx="2743200" cy="365125"/>
          </a:xfrm>
        </p:spPr>
        <p:txBody>
          <a:bodyPr/>
          <a:lstStyle/>
          <a:p>
            <a:fld id="{9A44EC55-A5CE-3B42-93D4-76B995307480}" type="datetime1">
              <a:rPr lang="en-US" smtClean="0"/>
            </a:fld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idx="1"/>
          </p:nvPr>
        </p:nvSpPr>
        <p:spPr>
          <a:xfrm>
            <a:off x="838200" y="2594919"/>
            <a:ext cx="10515600" cy="3582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578667"/>
            <a:ext cx="2743200" cy="365125"/>
          </a:xfrm>
        </p:spPr>
        <p:txBody>
          <a:bodyPr/>
          <a:lstStyle/>
          <a:p>
            <a:fld id="{A359ACD4-C0BF-5A4F-8770-255E08A938D5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610600" y="6577210"/>
            <a:ext cx="2743200" cy="365125"/>
          </a:xfrm>
        </p:spPr>
        <p:txBody>
          <a:bodyPr/>
          <a:lstStyle/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1223"/>
            <a:ext cx="10515600" cy="10134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838200" y="2536714"/>
            <a:ext cx="10515600" cy="35238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44EC55-A5CE-3B42-93D4-76B995307480}" type="datetime1">
              <a:rPr lang="en-US" smtClean="0"/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idx="1"/>
          </p:nvPr>
        </p:nvSpPr>
        <p:spPr>
          <a:xfrm>
            <a:off x="838200" y="2594919"/>
            <a:ext cx="10515600" cy="3582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44EC55-A5CE-3B42-93D4-76B995307480}" type="datetime1">
              <a:rPr lang="en-US" smtClean="0"/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idx="1"/>
          </p:nvPr>
        </p:nvSpPr>
        <p:spPr>
          <a:xfrm>
            <a:off x="838200" y="2594919"/>
            <a:ext cx="10515600" cy="3582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ACD4-C0BF-5A4F-8770-255E08A938D5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838200" y="2627313"/>
            <a:ext cx="10515600" cy="3040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4.jpe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8200" y="3667919"/>
            <a:ext cx="10515600" cy="1426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838200" y="2569389"/>
            <a:ext cx="10515600" cy="101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10600" y="65211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838200" y="65225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6E14B-A5C0-7C44-88C3-51ECD97D89CF}" type="datetime1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8200" y="2594919"/>
            <a:ext cx="10515600" cy="3582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838200" y="10899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10600" y="65211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838200" y="65225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6E14B-A5C0-7C44-88C3-51ECD97D89CF}" type="datetime1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77215" y="2020570"/>
            <a:ext cx="1127633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Heterogeneity</a:t>
            </a: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Decoding</a:t>
            </a: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Cross-Subject MI-EEG in Acute Stroke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48479" y="3998714"/>
            <a:ext cx="3733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LIU Yuehan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 </a:t>
            </a:r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2026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8395" y="3463290"/>
            <a:ext cx="101739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Systematic Experimental Validation on XWStroke Dataset</a:t>
            </a:r>
            <a:endParaRPr lang="en-US" altLang="zh-CN" sz="24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-2800"/>
            <a:ext cx="3835246" cy="6860800"/>
          </a:xfrm>
          <a:prstGeom prst="rect">
            <a:avLst/>
          </a:prstGeom>
          <a:solidFill>
            <a:srgbClr val="0E5E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75" dirty="0">
              <a:latin typeface="义启小魏楷" panose="02010601030101010101" pitchFamily="2" charset="-122"/>
              <a:ea typeface="义启小魏楷" panose="02010601030101010101" pitchFamily="2" charset="-122"/>
            </a:endParaRPr>
          </a:p>
        </p:txBody>
      </p:sp>
      <p:sp>
        <p:nvSpPr>
          <p:cNvPr id="20" name="等腰三角形 19"/>
          <p:cNvSpPr/>
          <p:nvPr/>
        </p:nvSpPr>
        <p:spPr>
          <a:xfrm rot="5400000" flipH="1">
            <a:off x="1437022" y="2398226"/>
            <a:ext cx="6844645" cy="2048194"/>
          </a:xfrm>
          <a:prstGeom prst="triangle">
            <a:avLst/>
          </a:prstGeom>
          <a:solidFill>
            <a:srgbClr val="0E5E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75" dirty="0">
              <a:latin typeface="义启小魏楷" panose="02010601030101010101" pitchFamily="2" charset="-122"/>
              <a:ea typeface="义启小魏楷" panose="02010601030101010101" pitchFamily="2" charset="-122"/>
            </a:endParaRPr>
          </a:p>
        </p:txBody>
      </p:sp>
      <p:sp>
        <p:nvSpPr>
          <p:cNvPr id="21" name="平行四边形 20"/>
          <p:cNvSpPr/>
          <p:nvPr/>
        </p:nvSpPr>
        <p:spPr>
          <a:xfrm flipH="1">
            <a:off x="3652957" y="-1"/>
            <a:ext cx="2405075" cy="3429001"/>
          </a:xfrm>
          <a:prstGeom prst="parallelogram">
            <a:avLst>
              <a:gd name="adj" fmla="val 84220"/>
            </a:avLst>
          </a:prstGeom>
          <a:solidFill>
            <a:srgbClr val="269BE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75" dirty="0">
              <a:latin typeface="义启小魏楷" panose="02010601030101010101" pitchFamily="2" charset="-122"/>
              <a:ea typeface="义启小魏楷" panose="02010601030101010101" pitchFamily="2" charset="-122"/>
            </a:endParaRPr>
          </a:p>
        </p:txBody>
      </p:sp>
      <p:sp>
        <p:nvSpPr>
          <p:cNvPr id="22" name="平行四边形 21"/>
          <p:cNvSpPr/>
          <p:nvPr/>
        </p:nvSpPr>
        <p:spPr>
          <a:xfrm>
            <a:off x="3652956" y="3409898"/>
            <a:ext cx="2405075" cy="3448102"/>
          </a:xfrm>
          <a:prstGeom prst="parallelogram">
            <a:avLst>
              <a:gd name="adj" fmla="val 84220"/>
            </a:avLst>
          </a:prstGeom>
          <a:solidFill>
            <a:srgbClr val="269BEA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75" dirty="0">
              <a:latin typeface="义启小魏楷" panose="02010601030101010101" pitchFamily="2" charset="-122"/>
              <a:ea typeface="义启小魏楷" panose="02010601030101010101" pitchFamily="2" charset="-122"/>
            </a:endParaRPr>
          </a:p>
        </p:txBody>
      </p:sp>
      <p:sp>
        <p:nvSpPr>
          <p:cNvPr id="47" name="TextBox 3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61791" y="620353"/>
            <a:ext cx="655869" cy="521970"/>
          </a:xfrm>
          <a:prstGeom prst="rect">
            <a:avLst/>
          </a:prstGeom>
          <a:solidFill>
            <a:srgbClr val="0E5E96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</a:rPr>
              <a:t>01</a:t>
            </a:r>
            <a:endParaRPr lang="en-US" altLang="zh-CN" sz="2800" dirty="0">
              <a:solidFill>
                <a:schemeClr val="bg1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2"/>
            </p:custDataLst>
          </p:nvPr>
        </p:nvSpPr>
        <p:spPr>
          <a:xfrm>
            <a:off x="6362373" y="737568"/>
            <a:ext cx="52130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E5E96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</a:rPr>
              <a:t>Background</a:t>
            </a:r>
            <a:endParaRPr lang="zh-CN" altLang="en-US" dirty="0">
              <a:solidFill>
                <a:srgbClr val="0E5E96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</a:endParaRPr>
          </a:p>
        </p:txBody>
      </p:sp>
      <p:cxnSp>
        <p:nvCxnSpPr>
          <p:cNvPr id="49" name="直接连接符 48"/>
          <p:cNvCxnSpPr/>
          <p:nvPr>
            <p:custDataLst>
              <p:tags r:id="rId3"/>
            </p:custDataLst>
          </p:nvPr>
        </p:nvCxnSpPr>
        <p:spPr>
          <a:xfrm>
            <a:off x="6317660" y="1129212"/>
            <a:ext cx="4788569" cy="0"/>
          </a:xfrm>
          <a:prstGeom prst="line">
            <a:avLst/>
          </a:prstGeom>
          <a:ln w="19050">
            <a:solidFill>
              <a:srgbClr val="0E5E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674018" y="2891658"/>
            <a:ext cx="4181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  <a:sym typeface="+mn-lt"/>
              </a:rPr>
              <a:t>CONTENTS</a:t>
            </a:r>
            <a:endParaRPr lang="en-US" altLang="zh-CN" sz="5400" b="1" dirty="0">
              <a:solidFill>
                <a:schemeClr val="bg1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6" name="TextBox 3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31091" y="2198328"/>
            <a:ext cx="655869" cy="521970"/>
          </a:xfrm>
          <a:prstGeom prst="rect">
            <a:avLst/>
          </a:prstGeom>
          <a:solidFill>
            <a:srgbClr val="0E5E96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5"/>
            </p:custDataLst>
          </p:nvPr>
        </p:nvSpPr>
        <p:spPr>
          <a:xfrm>
            <a:off x="6731673" y="2315543"/>
            <a:ext cx="52130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E5E96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  <a:sym typeface="+mn-lt"/>
              </a:rPr>
              <a:t>Research Status</a:t>
            </a:r>
            <a:endParaRPr lang="en-US" dirty="0">
              <a:solidFill>
                <a:srgbClr val="0E5E96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cxnSp>
        <p:nvCxnSpPr>
          <p:cNvPr id="58" name="直接连接符 57"/>
          <p:cNvCxnSpPr/>
          <p:nvPr>
            <p:custDataLst>
              <p:tags r:id="rId6"/>
            </p:custDataLst>
          </p:nvPr>
        </p:nvCxnSpPr>
        <p:spPr>
          <a:xfrm>
            <a:off x="6686960" y="2713854"/>
            <a:ext cx="4788569" cy="0"/>
          </a:xfrm>
          <a:prstGeom prst="line">
            <a:avLst/>
          </a:prstGeom>
          <a:ln w="19050">
            <a:solidFill>
              <a:srgbClr val="0E5E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3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619902" y="5477635"/>
            <a:ext cx="655869" cy="521970"/>
          </a:xfrm>
          <a:prstGeom prst="rect">
            <a:avLst/>
          </a:prstGeom>
          <a:solidFill>
            <a:srgbClr val="0E5E96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</a:rPr>
              <a:t>04</a:t>
            </a:r>
            <a:endParaRPr lang="en-US" altLang="zh-CN" sz="2800" dirty="0">
              <a:solidFill>
                <a:schemeClr val="bg1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8"/>
            </p:custDataLst>
          </p:nvPr>
        </p:nvSpPr>
        <p:spPr>
          <a:xfrm>
            <a:off x="6320484" y="5594850"/>
            <a:ext cx="52130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E5E96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  <a:sym typeface="+mn-lt"/>
              </a:rPr>
              <a:t>Future Directions</a:t>
            </a:r>
            <a:endParaRPr lang="en-US" altLang="zh-CN" b="1" dirty="0">
              <a:solidFill>
                <a:srgbClr val="0E5E96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61" name="直接连接符 60"/>
          <p:cNvCxnSpPr/>
          <p:nvPr>
            <p:custDataLst>
              <p:tags r:id="rId9"/>
            </p:custDataLst>
          </p:nvPr>
        </p:nvCxnSpPr>
        <p:spPr>
          <a:xfrm>
            <a:off x="6275771" y="5993626"/>
            <a:ext cx="4788569" cy="0"/>
          </a:xfrm>
          <a:prstGeom prst="line">
            <a:avLst/>
          </a:prstGeom>
          <a:ln w="19050">
            <a:solidFill>
              <a:srgbClr val="0E5E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32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051411" y="3954738"/>
            <a:ext cx="655869" cy="521970"/>
          </a:xfrm>
          <a:prstGeom prst="rect">
            <a:avLst/>
          </a:prstGeom>
          <a:solidFill>
            <a:srgbClr val="0E5E96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</a:rPr>
              <a:t>03</a:t>
            </a:r>
            <a:endParaRPr lang="en-US" altLang="zh-CN" sz="2800" dirty="0">
              <a:solidFill>
                <a:schemeClr val="bg1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6751993" y="4064333"/>
            <a:ext cx="52130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E5E96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  <a:sym typeface="+mn-lt"/>
              </a:rPr>
              <a:t>Preliminary Results</a:t>
            </a:r>
            <a:endParaRPr lang="en-US" altLang="zh-CN" b="1" dirty="0">
              <a:solidFill>
                <a:srgbClr val="0E5E96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7" name="直接连接符 6"/>
          <p:cNvCxnSpPr/>
          <p:nvPr>
            <p:custDataLst>
              <p:tags r:id="rId12"/>
            </p:custDataLst>
          </p:nvPr>
        </p:nvCxnSpPr>
        <p:spPr>
          <a:xfrm>
            <a:off x="6707280" y="4470264"/>
            <a:ext cx="4788569" cy="0"/>
          </a:xfrm>
          <a:prstGeom prst="line">
            <a:avLst/>
          </a:prstGeom>
          <a:ln w="19050">
            <a:solidFill>
              <a:srgbClr val="0E5E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0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66157" y="1938016"/>
            <a:ext cx="7259689" cy="3031743"/>
          </a:xfrm>
          <a:prstGeom prst="rect">
            <a:avLst/>
          </a:prstGeom>
          <a:solidFill>
            <a:srgbClr val="0E5E96"/>
          </a:solidFill>
          <a:ln>
            <a:noFill/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5390" y="2165702"/>
            <a:ext cx="6801222" cy="2576368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64486" y="2448285"/>
            <a:ext cx="1306768" cy="2206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740" dirty="0">
                <a:solidFill>
                  <a:schemeClr val="bg1"/>
                </a:solidFill>
                <a:latin typeface="Agency FB" panose="020B0503020202020204" pitchFamily="34" charset="0"/>
                <a:cs typeface="+mn-ea"/>
                <a:sym typeface="+mn-lt"/>
              </a:rPr>
              <a:t>01</a:t>
            </a:r>
            <a:endParaRPr lang="zh-CN" altLang="en-US" sz="13740" dirty="0">
              <a:solidFill>
                <a:schemeClr val="bg1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88883" y="3131730"/>
            <a:ext cx="447983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BACKGROUND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59403" y="2834791"/>
            <a:ext cx="0" cy="140558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Stroke Heterogeneity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10" name="TextBox 41"/>
          <p:cNvSpPr txBox="1"/>
          <p:nvPr/>
        </p:nvSpPr>
        <p:spPr>
          <a:xfrm>
            <a:off x="600710" y="1150620"/>
            <a:ext cx="3376930" cy="1846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E5E96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Heterogeneity Variables</a:t>
            </a:r>
            <a:r>
              <a:rPr lang="zh-CN" altLang="en-US" sz="2000" b="1" dirty="0">
                <a:solidFill>
                  <a:srgbClr val="0E5E96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：</a:t>
            </a:r>
            <a:endParaRPr lang="en-US" altLang="zh-CN" sz="2000" b="1" dirty="0">
              <a:solidFill>
                <a:srgbClr val="0E5E96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Type,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Leision Location,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Paralysis Side,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Severity,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Period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2100" y="916305"/>
            <a:ext cx="2651760" cy="24022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940" y="3474085"/>
            <a:ext cx="2309495" cy="1123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395" y="916305"/>
            <a:ext cx="1106170" cy="16871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030" y="3474085"/>
            <a:ext cx="2121535" cy="10217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260" y="2603500"/>
            <a:ext cx="1488440" cy="5689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5460" y="869950"/>
            <a:ext cx="464820" cy="172720"/>
          </a:xfrm>
          <a:prstGeom prst="rect">
            <a:avLst/>
          </a:prstGeom>
        </p:spPr>
      </p:pic>
      <p:sp>
        <p:nvSpPr>
          <p:cNvPr id="13" name="TextBox 41"/>
          <p:cNvSpPr txBox="1"/>
          <p:nvPr/>
        </p:nvSpPr>
        <p:spPr>
          <a:xfrm>
            <a:off x="600710" y="4794885"/>
            <a:ext cx="8608695" cy="123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b="1" dirty="0">
                <a:solidFill>
                  <a:srgbClr val="0E5E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Contribution:</a:t>
            </a:r>
            <a:endParaRPr lang="en-US" altLang="zh-CN" sz="2000" b="1" dirty="0">
              <a:solidFill>
                <a:srgbClr val="0E5E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systematic introduction of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stroke clinical variables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into cross-subject MI-EEG decoding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Clinically Adaptive Strategie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XW Stroke Dataset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6" name="TextBox 41"/>
          <p:cNvSpPr txBox="1"/>
          <p:nvPr/>
        </p:nvSpPr>
        <p:spPr>
          <a:xfrm>
            <a:off x="453390" y="993140"/>
            <a:ext cx="11205210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N=50 acute stroke patients (1–30 days post-stroke)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32 EEG + 2 EOG channels, 500 Hz sampling, 4-second epochs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13 artifact-affected subjects identified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1875155" y="1984375"/>
          <a:ext cx="7245985" cy="4113530"/>
        </p:xfrm>
        <a:graphic>
          <a:graphicData uri="http://schemas.openxmlformats.org/drawingml/2006/table">
            <a:tbl>
              <a:tblPr/>
              <a:tblGrid>
                <a:gridCol w="1863725"/>
                <a:gridCol w="2531745"/>
                <a:gridCol w="2850515"/>
              </a:tblGrid>
              <a:tr h="48133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Dimension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Category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N=50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rowSpan="2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Artifact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Yes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13 (26%)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vMerge="1"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No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37 (74%)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rowSpan="2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Paralysis Side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Left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28 (56%)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vMerge="1"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Right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22 (44%)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rowSpan="3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NIHSS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Light (1–3)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28 (56%)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vMerge="1"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Medium (4–7)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16 (32%)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vMerge="1"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Severe (≥8)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 (12%)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rowSpan="3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Lesion Location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Subcortical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29 (58%)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vMerge="1"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Brainstem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16 (32%)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 vMerge="1"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Cortical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 (6%)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66157" y="1938016"/>
            <a:ext cx="7259689" cy="3031743"/>
          </a:xfrm>
          <a:prstGeom prst="rect">
            <a:avLst/>
          </a:prstGeom>
          <a:solidFill>
            <a:srgbClr val="0E5E96"/>
          </a:solidFill>
          <a:ln>
            <a:noFill/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5390" y="2165702"/>
            <a:ext cx="6801222" cy="2576368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07293" y="2448285"/>
            <a:ext cx="1621155" cy="2205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740" dirty="0">
                <a:solidFill>
                  <a:schemeClr val="bg1"/>
                </a:solidFill>
                <a:latin typeface="Agency FB" panose="020B0503020202020204" pitchFamily="34" charset="0"/>
                <a:cs typeface="+mn-ea"/>
                <a:sym typeface="+mn-lt"/>
              </a:rPr>
              <a:t>02</a:t>
            </a:r>
            <a:endParaRPr lang="zh-CN" altLang="en-US" sz="13740" dirty="0">
              <a:solidFill>
                <a:schemeClr val="bg1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88883" y="2938055"/>
            <a:ext cx="4479835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RESEARCH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STATUS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59403" y="2834791"/>
            <a:ext cx="0" cy="140558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Core Method on XW Dataset (6 only)</a:t>
            </a:r>
            <a:endParaRPr lang="zh-CN" altLang="en-US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25170" y="1040765"/>
          <a:ext cx="10320655" cy="4327525"/>
        </p:xfrm>
        <a:graphic>
          <a:graphicData uri="http://schemas.openxmlformats.org/drawingml/2006/table">
            <a:tbl>
              <a:tblPr/>
              <a:tblGrid>
                <a:gridCol w="772795"/>
                <a:gridCol w="1589405"/>
                <a:gridCol w="5005070"/>
                <a:gridCol w="2953385"/>
              </a:tblGrid>
              <a:tr h="41275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Paper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Data Scope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Reported Results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Publish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356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Bun24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Full 50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SACAN </a:t>
                      </a:r>
                      <a:r>
                        <a:rPr lang="en-US" altLang="zh-CN" sz="1400" b="0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94.44%</a:t>
                      </a:r>
                      <a:endParaRPr lang="en-US" altLang="zh-CN" sz="1400" b="0" i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DASA 2024 (Conference)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85788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Bun25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Full 50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80/20 standard evaluation </a:t>
                      </a:r>
                      <a:r>
                        <a:rPr lang="en-US" altLang="zh-CN" sz="1400" b="0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99.52%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, LOSO </a:t>
                      </a:r>
                      <a:r>
                        <a:rPr lang="en-US" altLang="zh-CN" sz="1400" b="0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97.43%</a:t>
                      </a:r>
                      <a:endParaRPr lang="en-US" altLang="zh-CN" sz="1400" b="0" i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Computers, Materials &amp; Continua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356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Kav24b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Full 50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Dipole</a:t>
                      </a:r>
                      <a:r>
                        <a:rPr lang="en-US" altLang="zh-CN" sz="1400" b="0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91.03%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, MNE 89.07%, Beamforming 87.17%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Bioengineering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43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Wan26h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+mn-ea"/>
                        </a:rPr>
                        <a:t>24-patient subset</a:t>
                      </a:r>
                      <a:endParaRPr lang="en-US" altLang="zh-CN" sz="1400" b="0" i="0">
                        <a:solidFill>
                          <a:schemeClr val="accent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XW Stroke </a:t>
                      </a:r>
                      <a:r>
                        <a:rPr lang="en-US" altLang="zh-CN" sz="140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+mn-ea"/>
                        </a:rPr>
                        <a:t>cross-subject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66.56%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Arxiv(Apr.2026)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1564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Liu25c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+mn-ea"/>
                        </a:rPr>
                        <a:t>30-patient subset</a:t>
                      </a:r>
                      <a:endParaRPr lang="en-US" altLang="zh-CN" sz="1400" b="0" i="0">
                        <a:solidFill>
                          <a:schemeClr val="accent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Decoding accuracy above 60% for each ROI, with manifold and NIHSS correlation analysis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IEEE TNSRE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356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Lv25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14-patient subset</a:t>
                      </a:r>
                      <a:endParaRPr lang="en-US" altLang="zh-CN" sz="1400" b="0" i="0">
                        <a:solidFill>
                          <a:schemeClr val="accent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KNN 75.00% ± 7.94%, LDA and SVM lower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JNER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Core Method on XW Dataset (LOSO)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pic>
        <p:nvPicPr>
          <p:cNvPr id="11" name="图片 10" descr="fig_competitive_landscape"/>
          <p:cNvPicPr>
            <a:picLocks noChangeAspect="1"/>
          </p:cNvPicPr>
          <p:nvPr/>
        </p:nvPicPr>
        <p:blipFill>
          <a:blip r:embed="rId1"/>
          <a:srcRect b="24692"/>
          <a:stretch>
            <a:fillRect/>
          </a:stretch>
        </p:blipFill>
        <p:spPr>
          <a:xfrm>
            <a:off x="375285" y="1149350"/>
            <a:ext cx="7870190" cy="3801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Core Method on XW Dataset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66157" y="1938016"/>
            <a:ext cx="7259689" cy="3031743"/>
          </a:xfrm>
          <a:prstGeom prst="rect">
            <a:avLst/>
          </a:prstGeom>
          <a:solidFill>
            <a:srgbClr val="0E5E96"/>
          </a:solidFill>
          <a:ln>
            <a:noFill/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5390" y="2165702"/>
            <a:ext cx="6801222" cy="2576368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79670" y="2448285"/>
            <a:ext cx="1676400" cy="2205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740" dirty="0">
                <a:solidFill>
                  <a:schemeClr val="bg1"/>
                </a:solidFill>
                <a:latin typeface="Agency FB" panose="020B0503020202020204" pitchFamily="34" charset="0"/>
                <a:cs typeface="+mn-ea"/>
                <a:sym typeface="+mn-lt"/>
              </a:rPr>
              <a:t>03</a:t>
            </a:r>
            <a:endParaRPr lang="zh-CN" altLang="en-US" sz="13740" dirty="0">
              <a:solidFill>
                <a:schemeClr val="bg1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88883" y="2952025"/>
            <a:ext cx="4479835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PRELIMINARY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59403" y="2834791"/>
            <a:ext cx="0" cy="140558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Affected Label Convert: </a:t>
            </a: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Full-Cohort Baseline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" y="859155"/>
            <a:ext cx="5532755" cy="55327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130" y="1033780"/>
            <a:ext cx="6325870" cy="2679065"/>
          </a:xfrm>
          <a:prstGeom prst="rect">
            <a:avLst/>
          </a:prstGeom>
        </p:spPr>
      </p:pic>
      <p:sp>
        <p:nvSpPr>
          <p:cNvPr id="8" name="TextBox 41"/>
          <p:cNvSpPr txBox="1"/>
          <p:nvPr/>
        </p:nvSpPr>
        <p:spPr>
          <a:xfrm>
            <a:off x="6183630" y="4105910"/>
            <a:ext cx="5690870" cy="24714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E5E96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Passive Paradigm:</a:t>
            </a:r>
            <a:endParaRPr lang="en-US" altLang="zh-CN" sz="2000" b="1" dirty="0">
              <a:solidFill>
                <a:srgbClr val="0E5E96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avg performance: +1.83%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p-value: 0.0618 &gt; 0.05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improved subjects: 28/50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Affected Label </a:t>
            </a: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Convert: Stratified Analysis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pic>
        <p:nvPicPr>
          <p:cNvPr id="5" name="图片 4" descr="fig_stratified_waterf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" y="1034415"/>
            <a:ext cx="8909050" cy="4788535"/>
          </a:xfrm>
          <a:prstGeom prst="rect">
            <a:avLst/>
          </a:prstGeom>
        </p:spPr>
      </p:pic>
      <p:sp>
        <p:nvSpPr>
          <p:cNvPr id="7" name="TextBox 41"/>
          <p:cNvSpPr txBox="1"/>
          <p:nvPr/>
        </p:nvSpPr>
        <p:spPr>
          <a:xfrm>
            <a:off x="9181465" y="895350"/>
            <a:ext cx="2788920" cy="12534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E5E96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Benefit: </a:t>
            </a:r>
            <a:endParaRPr lang="en-US" altLang="zh-CN" sz="2000" b="1" dirty="0">
              <a:solidFill>
                <a:srgbClr val="0E5E96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less damaged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deeper lesion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41"/>
          <p:cNvSpPr txBox="1"/>
          <p:nvPr/>
        </p:nvSpPr>
        <p:spPr>
          <a:xfrm>
            <a:off x="9181465" y="1953895"/>
            <a:ext cx="2788920" cy="848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E5E96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Hurts: </a:t>
            </a:r>
            <a:endParaRPr lang="en-US" altLang="zh-CN" sz="2000" b="1" dirty="0">
              <a:solidFill>
                <a:srgbClr val="0E5E96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cortical-damage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41"/>
          <p:cNvSpPr txBox="1"/>
          <p:nvPr/>
        </p:nvSpPr>
        <p:spPr>
          <a:xfrm>
            <a:off x="9181465" y="3568065"/>
            <a:ext cx="2788920" cy="11347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E5E96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Assume: </a:t>
            </a:r>
            <a:endParaRPr lang="en-US" altLang="zh-CN" sz="2000" b="1" dirty="0">
              <a:solidFill>
                <a:srgbClr val="0E5E96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relying on intact motor circuits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Subset Selection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932180" y="889000"/>
          <a:ext cx="9871710" cy="5080635"/>
        </p:xfrm>
        <a:graphic>
          <a:graphicData uri="http://schemas.openxmlformats.org/drawingml/2006/table">
            <a:tbl>
              <a:tblPr/>
              <a:tblGrid>
                <a:gridCol w="2759710"/>
                <a:gridCol w="3556000"/>
                <a:gridCol w="3556000"/>
              </a:tblGrid>
              <a:tr h="725805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Aspect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CleanC (N=14)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Subset-20 (N=20)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5805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Selection logic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Homogeneity filtering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Stratified sampling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5805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Purpose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Mechanism validation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Fast iteration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5805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Artifact subjects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5805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Severe NIHSS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5805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Lesion diversity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100% subcortical only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55% subcortical + 35% brainstem + 5% cortical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5805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Use case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Upper-bound estimate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Realistic estimate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Domain-Adversarial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66157" y="1938016"/>
            <a:ext cx="7259689" cy="3031743"/>
          </a:xfrm>
          <a:prstGeom prst="rect">
            <a:avLst/>
          </a:prstGeom>
          <a:solidFill>
            <a:srgbClr val="0E5E96"/>
          </a:solidFill>
          <a:ln>
            <a:noFill/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5390" y="2165702"/>
            <a:ext cx="6801222" cy="2576368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13643" y="2448285"/>
            <a:ext cx="1608455" cy="2205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740" dirty="0">
                <a:solidFill>
                  <a:schemeClr val="bg1"/>
                </a:solidFill>
                <a:latin typeface="Agency FB" panose="020B0503020202020204" pitchFamily="34" charset="0"/>
                <a:cs typeface="+mn-ea"/>
                <a:sym typeface="+mn-lt"/>
              </a:rPr>
              <a:t>04</a:t>
            </a:r>
            <a:endParaRPr lang="zh-CN" altLang="en-US" sz="13740" dirty="0">
              <a:solidFill>
                <a:schemeClr val="bg1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88883" y="2952025"/>
            <a:ext cx="4479835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FEATURE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DIRECTIONS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59403" y="2834791"/>
            <a:ext cx="0" cy="140558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Clinical Adaptive Framework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External Datasets Validation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658495" y="1067435"/>
          <a:ext cx="10614025" cy="3574415"/>
        </p:xfrm>
        <a:graphic>
          <a:graphicData uri="http://schemas.openxmlformats.org/drawingml/2006/table">
            <a:tbl>
              <a:tblPr/>
              <a:tblGrid>
                <a:gridCol w="1032510"/>
                <a:gridCol w="1474470"/>
                <a:gridCol w="1946910"/>
                <a:gridCol w="4147820"/>
                <a:gridCol w="2012315"/>
              </a:tblGrid>
              <a:tr h="558165"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Dataset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 and Stage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MI Task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Clinical Information Strength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Overall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3785"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Liu25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27 patients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(1 to 12 mo)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2-class: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Lower-limb gait vs. idle</a:t>
                      </a:r>
                      <a:endParaRPr lang="en-US" altLang="zh-CN" sz="1800" b="0" i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Moderate, including affected side, lesion location, stroke type, disease duration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Prioritize for validation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755"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Cho21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 patients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(~11 mo)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+mn-ea"/>
                        </a:rPr>
                        <a:t>2-class: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Left/right hand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grasp attempt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Weak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, mainly affected side and basic demographics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Small-sample cross-subject transfer benchmark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08710"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Thi25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+mn-ea"/>
                        </a:rPr>
                        <a:t>patients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4-class: </a:t>
                      </a:r>
                      <a:r>
                        <a:rPr lang="en-US" altLang="zh-CN" sz="1800" b="0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Left/right hand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and left/right lower limb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Strong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, including NIHSS, lesion side, lesion location, mRS, Oxford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Strongest clinical stratification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Work Plans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227455" y="1147445"/>
          <a:ext cx="9116060" cy="4022725"/>
        </p:xfrm>
        <a:graphic>
          <a:graphicData uri="http://schemas.openxmlformats.org/drawingml/2006/table">
            <a:tbl>
              <a:tblPr/>
              <a:tblGrid>
                <a:gridCol w="4679315"/>
                <a:gridCol w="2513330"/>
              </a:tblGrid>
              <a:tr h="483235"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Phase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Status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235"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Full-cohort baseline statistics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Complete</a:t>
                      </a:r>
                      <a:endParaRPr lang="en-US" altLang="zh-CN" sz="1800" b="0" i="0">
                        <a:solidFill>
                          <a:schemeClr val="accent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235"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Literature audit + benchmarking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Complete</a:t>
                      </a:r>
                      <a:endParaRPr lang="en-US" altLang="zh-CN" sz="1800" b="0" i="0">
                        <a:solidFill>
                          <a:schemeClr val="accent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235"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Subset-20 representative design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Complete</a:t>
                      </a:r>
                      <a:endParaRPr lang="en-US" altLang="zh-CN" sz="1800" b="0" i="0">
                        <a:solidFill>
                          <a:schemeClr val="accent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235"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DANN diagnostics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Complete (abandoned)</a:t>
                      </a:r>
                      <a:endParaRPr lang="en-US" altLang="zh-CN" sz="1800" b="0" i="0">
                        <a:solidFill>
                          <a:schemeClr val="accent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0080"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Subset-20 baseline validation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In progress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235"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Route B: Clinical adaptive framework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Priority #1</a:t>
                      </a:r>
                      <a:endParaRPr lang="en-US" altLang="zh-CN" sz="1800" b="0" i="0">
                        <a:solidFill>
                          <a:schemeClr val="accent4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235"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External validation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Pending</a:t>
                      </a:r>
                      <a:endParaRPr lang="en-US" altLang="zh-CN" sz="1800" b="0" i="0">
                        <a:solidFill>
                          <a:schemeClr val="accent4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6070" y="304165"/>
            <a:ext cx="11391900" cy="4559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E5E9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Reference</a:t>
            </a:r>
            <a:endParaRPr lang="en-US" altLang="zh-CN" sz="2800" b="1" dirty="0">
              <a:solidFill>
                <a:srgbClr val="0E5E9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50CF25-F9B6-EA4B-991F-E50888CA6F87}" type="slidenum">
              <a:rPr lang="en-US" smtClean="0"/>
            </a:fld>
            <a:endParaRPr lang="en-US"/>
          </a:p>
        </p:txBody>
      </p:sp>
      <p:sp>
        <p:nvSpPr>
          <p:cNvPr id="6" name="TextBox 41"/>
          <p:cNvSpPr txBox="1"/>
          <p:nvPr/>
        </p:nvSpPr>
        <p:spPr>
          <a:xfrm>
            <a:off x="453390" y="993140"/>
            <a:ext cx="11205210" cy="4924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H. Liu *et al.*, “An EEG motor imagery dataset for brain computer interface in acute stroke patients,” *Scientific Data*, vol. 11, Jan. 2024, doi: [10.1038/s41597-023-02787-8](https://doi.org/10.1038/s41597-023-02787-8).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Y. Liu *et al.*, “Lower limb motor imagery EEG dataset based on the multi-paradigm and longitudinal-training of stroke patients,” *Scientific Data*, vol. 12, Feb. 2025, doi: [10.1038/s41597-025-04618-4](https://doi.org/10.1038/s41597-025-04618-4).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A. Chowdhury and J. Andreu-Perez, “Clinical Brain–Computer Interface Challenge 2020 (CBCIC at WCCI2020): Overview, Methods and Results,” *IEEE Transactions on Medical Robotics and Bionics*, vol. 3, pp. 661–670, Aug. 2021, doi: [10.1109/TMRB.2021.3098108](https://doi.org/10.1109/TMRB.2021.3098108).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C. M. Thi *et al.*, “UET175: EEG dataset of motor imagery tasks in Vietnamese stroke patients,” *Frontiers in Neuroscience*, vol. 19, Jun. 2025, doi: [10.3389/fnins.2025.1580931](https://doi.org/10.3389/fnins.2025.1580931).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文本框 54"/>
          <p:cNvSpPr txBox="1"/>
          <p:nvPr/>
        </p:nvSpPr>
        <p:spPr>
          <a:xfrm>
            <a:off x="2551078" y="2539868"/>
            <a:ext cx="4181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Arial" panose="020B0604020202020204" pitchFamily="34" charset="0"/>
                <a:ea typeface="阿里巴巴普惠体 B" panose="00020600040101010101" pitchFamily="18" charset="-122"/>
                <a:cs typeface="Arial" panose="020B0604020202020204" pitchFamily="34" charset="0"/>
                <a:sym typeface="+mn-lt"/>
              </a:rPr>
              <a:t>THANKS!</a:t>
            </a:r>
            <a:endParaRPr lang="en-US" altLang="zh-CN" sz="5400" b="1" dirty="0">
              <a:solidFill>
                <a:schemeClr val="bg1"/>
              </a:solidFill>
              <a:latin typeface="Arial" panose="020B0604020202020204" pitchFamily="34" charset="0"/>
              <a:ea typeface="阿里巴巴普惠体 B" panose="00020600040101010101" pitchFamily="18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2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3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4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5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6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7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8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9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10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11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12.xml><?xml version="1.0" encoding="utf-8"?>
<p:tagLst xmlns:p="http://schemas.openxmlformats.org/presentationml/2006/main">
  <p:tag name="KSO_WM_DIAGRAM_VIRTUALLY_FRAME" val="{&quot;height&quot;:423.56314960629913,&quot;left&quot;:435.36031496062986,&quot;top&quot;:48.84669291338583,&quot;width&quot;:533.171968503937}"/>
</p:tagLst>
</file>

<file path=ppt/tags/tag13.xml><?xml version="1.0" encoding="utf-8"?>
<p:tagLst xmlns:p="http://schemas.openxmlformats.org/presentationml/2006/main">
  <p:tag name="TABLE_ENDDRAG_ORIGIN_RECT" val="864*350"/>
  <p:tag name="TABLE_ENDDRAG_RECT" val="57*71*864*350"/>
</p:tagLst>
</file>

<file path=ppt/tags/tag14.xml><?xml version="1.0" encoding="utf-8"?>
<p:tagLst xmlns:p="http://schemas.openxmlformats.org/presentationml/2006/main">
  <p:tag name="TABLE_ENDDRAG_ORIGIN_RECT" val="781*365"/>
  <p:tag name="TABLE_ENDDRAG_RECT" val="62*98*781*365"/>
</p:tagLst>
</file>

<file path=ppt/tags/tag15.xml><?xml version="1.0" encoding="utf-8"?>
<p:tagLst xmlns:p="http://schemas.openxmlformats.org/presentationml/2006/main">
  <p:tag name="TABLE_ENDDRAG_ORIGIN_RECT" val="829*281"/>
  <p:tag name="TABLE_ENDDRAG_RECT" val="63*77*830*281"/>
</p:tagLst>
</file>

<file path=ppt/tags/tag16.xml><?xml version="1.0" encoding="utf-8"?>
<p:tagLst xmlns:p="http://schemas.openxmlformats.org/presentationml/2006/main">
  <p:tag name="TABLE_ENDDRAG_ORIGIN_RECT" val="777*342"/>
  <p:tag name="TABLE_ENDDRAG_RECT" val="73*242*777*3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 PPT 40TH template_1 (16-9 ratio)</Template>
  <TotalTime>0</TotalTime>
  <Words>4077</Words>
  <Application>WPS 演示</Application>
  <PresentationFormat>宽屏</PresentationFormat>
  <Paragraphs>386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Arial</vt:lpstr>
      <vt:lpstr>义启小魏楷</vt:lpstr>
      <vt:lpstr>Calibri</vt:lpstr>
      <vt:lpstr>阿里巴巴普惠体 B</vt:lpstr>
      <vt:lpstr>Agency FB</vt:lpstr>
      <vt:lpstr>微软雅黑</vt:lpstr>
      <vt:lpstr>Arial Unicode MS</vt:lpstr>
      <vt:lpstr>Calibri Light</vt:lpstr>
      <vt:lpstr>等线</vt:lpstr>
      <vt:lpstr>义启小魏楷</vt:lpstr>
      <vt:lpstr>阿里巴巴普惠体 B</vt:lpstr>
      <vt:lpstr>阿里巴巴和七个小矮人</vt:lpstr>
      <vt:lpstr>Office Theme</vt:lpstr>
      <vt:lpstr>1_Office Theme</vt:lpstr>
      <vt:lpstr>PowerPoint 演示文稿</vt:lpstr>
      <vt:lpstr>PowerPoint 演示文稿</vt:lpstr>
      <vt:lpstr>PowerPoint 演示文稿</vt:lpstr>
      <vt:lpstr>Stroke Heterogeneity</vt:lpstr>
      <vt:lpstr>XW Stroke Dataset</vt:lpstr>
      <vt:lpstr>PowerPoint 演示文稿</vt:lpstr>
      <vt:lpstr>Core Method on XW Dataset (6 only)</vt:lpstr>
      <vt:lpstr>Core Method on XW Dataset (LOSO)</vt:lpstr>
      <vt:lpstr>Core Method on XW Dataset</vt:lpstr>
      <vt:lpstr>PowerPoint 演示文稿</vt:lpstr>
      <vt:lpstr>Affected Label Convert: Full-Cohort Baseline</vt:lpstr>
      <vt:lpstr>Affected Label Convert: Stratified Analysis</vt:lpstr>
      <vt:lpstr>Subset Selection</vt:lpstr>
      <vt:lpstr>Domain-Adversarial</vt:lpstr>
      <vt:lpstr>PowerPoint 演示文稿</vt:lpstr>
      <vt:lpstr>Clinical Adaptive Framework</vt:lpstr>
      <vt:lpstr>External Datasets Validation</vt:lpstr>
      <vt:lpstr>Work Plans</vt:lpstr>
      <vt:lpstr>Reference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刘岳涵</cp:lastModifiedBy>
  <cp:revision>48</cp:revision>
  <dcterms:created xsi:type="dcterms:W3CDTF">2026-02-03T02:36:00Z</dcterms:created>
  <dcterms:modified xsi:type="dcterms:W3CDTF">2026-05-19T00:09:13Z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C41C330392AC4B2783A4CC7E0CC47979_13</vt:lpwstr>
  </property>
</Properties>
</file>